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4264ecc784454" /><Relationship Type="http://schemas.openxmlformats.org/officeDocument/2006/relationships/extended-properties" Target="/docProps/app.xml" Id="R8c9072101370447d" /><Relationship Type="http://schemas.openxmlformats.org/officeDocument/2006/relationships/officeDocument" Target="/ppt/presentation.xml" Id="R1fa8b824ab1245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9e30eadd20409b"/>
  </p:sldMasterIdLst>
  <p:notesMasterIdLst>
    <p:notesMasterId xmlns:r="http://schemas.openxmlformats.org/officeDocument/2006/relationships" r:id="R2886acb2c9b045d1"/>
  </p:notesMasterIdLst>
  <p:sldIdLst>
    <p:sldId xmlns:r="http://schemas.openxmlformats.org/officeDocument/2006/relationships" id="256" r:id="R320d5678f8a3403c"/>
    <p:sldId xmlns:r="http://schemas.openxmlformats.org/officeDocument/2006/relationships" id="257" r:id="R23fcf9c02b1743e7"/>
    <p:sldId xmlns:r="http://schemas.openxmlformats.org/officeDocument/2006/relationships" id="258" r:id="Re413ee3bb76c424f"/>
    <p:sldId xmlns:r="http://schemas.openxmlformats.org/officeDocument/2006/relationships" id="259" r:id="R99a6cdd317384668"/>
    <p:sldId xmlns:r="http://schemas.openxmlformats.org/officeDocument/2006/relationships" id="260" r:id="R6dc73b1d1e5b4539"/>
    <p:sldId xmlns:r="http://schemas.openxmlformats.org/officeDocument/2006/relationships" id="261" r:id="R43ea57f858ca4ad6"/>
    <p:sldId xmlns:r="http://schemas.openxmlformats.org/officeDocument/2006/relationships" id="262" r:id="Rd90b0562eb784ca3"/>
    <p:sldId xmlns:r="http://schemas.openxmlformats.org/officeDocument/2006/relationships" id="263" r:id="R7e9e7681685349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f7641528a54c44" /><Relationship Type="http://schemas.openxmlformats.org/officeDocument/2006/relationships/slideMaster" Target="/ppt/slideMasters/slideMaster1.xml" Id="Re89e30eadd20409b" /><Relationship Type="http://schemas.openxmlformats.org/officeDocument/2006/relationships/notesMaster" Target="/ppt/notesMasters/notesMaster1.xml" Id="R2886acb2c9b045d1" /><Relationship Type="http://schemas.openxmlformats.org/officeDocument/2006/relationships/presProps" Target="/ppt/presProps.xml" Id="Rebcbf5eea50342ac" /><Relationship Type="http://schemas.openxmlformats.org/officeDocument/2006/relationships/tableStyles" Target="/ppt/tableStyles.xml" Id="Ra2d35d63d0c54e9d" /><Relationship Type="http://schemas.openxmlformats.org/officeDocument/2006/relationships/slide" Target="/ppt/slides/slide1.xml" Id="R320d5678f8a3403c" /><Relationship Type="http://schemas.openxmlformats.org/officeDocument/2006/relationships/slide" Target="/ppt/slides/slide2.xml" Id="R23fcf9c02b1743e7" /><Relationship Type="http://schemas.openxmlformats.org/officeDocument/2006/relationships/slide" Target="/ppt/slides/slide3.xml" Id="Re413ee3bb76c424f" /><Relationship Type="http://schemas.openxmlformats.org/officeDocument/2006/relationships/slide" Target="/ppt/slides/slide4.xml" Id="R99a6cdd317384668" /><Relationship Type="http://schemas.openxmlformats.org/officeDocument/2006/relationships/slide" Target="/ppt/slides/slide5.xml" Id="R6dc73b1d1e5b4539" /><Relationship Type="http://schemas.openxmlformats.org/officeDocument/2006/relationships/slide" Target="/ppt/slides/slide6.xml" Id="R43ea57f858ca4ad6" /><Relationship Type="http://schemas.openxmlformats.org/officeDocument/2006/relationships/slide" Target="/ppt/slides/slide7.xml" Id="Rd90b0562eb784ca3" /><Relationship Type="http://schemas.openxmlformats.org/officeDocument/2006/relationships/slide" Target="/ppt/slides/slide8.xml" Id="R7e9e76816853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c4c87f70684e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44c80602dd4356" /><Relationship Type="http://schemas.openxmlformats.org/officeDocument/2006/relationships/notesMaster" Target="/ppt/notesMasters/notesMaster1.xml" Id="Rbc59e3cf375445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b9d145ee944b4f" /><Relationship Type="http://schemas.openxmlformats.org/officeDocument/2006/relationships/notesMaster" Target="/ppt/notesMasters/notesMaster1.xml" Id="R73cb9dd3ef4b4f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53614df2f94182" /><Relationship Type="http://schemas.openxmlformats.org/officeDocument/2006/relationships/notesMaster" Target="/ppt/notesMasters/notesMaster1.xml" Id="R5b5b3729a34d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632b96df124272" /><Relationship Type="http://schemas.openxmlformats.org/officeDocument/2006/relationships/notesMaster" Target="/ppt/notesMasters/notesMaster1.xml" Id="R4e86e331ead54a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9a55d07d7e4ed6" /><Relationship Type="http://schemas.openxmlformats.org/officeDocument/2006/relationships/notesMaster" Target="/ppt/notesMasters/notesMaster1.xml" Id="R52f8b1e3f44340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7b9ec9f8b34c64" /><Relationship Type="http://schemas.openxmlformats.org/officeDocument/2006/relationships/notesMaster" Target="/ppt/notesMasters/notesMaster1.xml" Id="R55a622e84d9245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7e49565ddc457e" /><Relationship Type="http://schemas.openxmlformats.org/officeDocument/2006/relationships/notesMaster" Target="/ppt/notesMasters/notesMaster1.xml" Id="Rd2137c51103543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2cbb7577504189" /><Relationship Type="http://schemas.openxmlformats.org/officeDocument/2006/relationships/notesMaster" Target="/ppt/notesMasters/notesMaster1.xml" Id="Rb477bbe83edd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Opening, about 25 seconds. Introduce Stock Sense as a financial-literacy site for beginners. The website is educational and does not give buy or sell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35 seconds. Explain that beginners often see a ticker move but lack a clear process. The site does not make an investment decision for them. It helps them decide what to investigate or practice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40 seconds. Explain that Kaggle supplied the raw public data, but the website reads a smaller cleaned CSV created for the project. The source and all measure definitions appear on the Method and Reflection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60 seconds. Demonstrate these four actions on the live website. Select Apple or another familiar company, switch timeframes, change the comparison companies, choose a sector, then show the learning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45 seconds. Explain the selected-sector comparison. Energy had the highest sample average at 42.3%, Information Technology averaged 23.2%, and Consumer Discretionary averaged negative 10.3%. Emphasize that these are samples of three companies per sector, not complete sector indexes.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50 seconds. Show the sector filter and explain the green/red result. The finding is descriptive, not predictive. Then demonstrate how the three questions change the next learning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40 seconds. End the analysis with limitations. The recommendations are teaching recommendations supported by the need for context in the data, not financial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Closing, about 20 seconds. Invite the audience to explore the site. Point out that the CSV files, methodology note, and reflection are available from the Method and Reflection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1a0b7fed0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91c609dc49434d" /><Relationship Type="http://schemas.openxmlformats.org/officeDocument/2006/relationships/slideLayout" Target="/ppt/slideLayouts/slideLayout1.xml" Id="R817324882ac445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324882ac445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74660ff274226" /><Relationship Type="http://schemas.openxmlformats.org/officeDocument/2006/relationships/notesSlide" Target="/ppt/notesSlides/notesSlide1.xml" Id="R5c0350af6dc344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2cb6ae4d42b5" /><Relationship Type="http://schemas.openxmlformats.org/officeDocument/2006/relationships/notesSlide" Target="/ppt/notesSlides/notesSlide2.xml" Id="Ra74f8d2c93e04e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4a572e0f044e3" /><Relationship Type="http://schemas.openxmlformats.org/officeDocument/2006/relationships/notesSlide" Target="/ppt/notesSlides/notesSlide3.xml" Id="Ra1dce7d4a84446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403db32eb4b3c" /><Relationship Type="http://schemas.openxmlformats.org/officeDocument/2006/relationships/notesSlide" Target="/ppt/notesSlides/notesSlide4.xml" Id="R3942fc1a72ed4c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f9720051b4fd4" /><Relationship Type="http://schemas.openxmlformats.org/officeDocument/2006/relationships/chart" Target="/ppt/slides/charts/chart1.xml" Id="R33e74eb661224ff6" /><Relationship Type="http://schemas.openxmlformats.org/officeDocument/2006/relationships/notesSlide" Target="/ppt/notesSlides/notesSlide5.xml" Id="R43d4582d71dc47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b70343aac4a00" /><Relationship Type="http://schemas.openxmlformats.org/officeDocument/2006/relationships/notesSlide" Target="/ppt/notesSlides/notesSlide6.xml" Id="R8ce599d295244d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93def57f64668" /><Relationship Type="http://schemas.openxmlformats.org/officeDocument/2006/relationships/notesSlide" Target="/ppt/notesSlides/notesSlide7.xml" Id="R1c361f49370645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34787995e41d7" /><Relationship Type="http://schemas.openxmlformats.org/officeDocument/2006/relationships/notesSlide" Target="/ppt/notesSlides/notesSlide8.xml" Id="R0fd68914c43142c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one-year return (%)</c:v>
          </c:tx>
          <c:spPr>
            <a:solidFill xmlns:a="http://schemas.openxmlformats.org/drawingml/2006/main">
              <a:srgbClr val="5E9B8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Energy</c:v>
                </c:pt>
                <c:pt idx="1">
                  <c:v>Information Technology</c:v>
                </c:pt>
                <c:pt idx="2">
                  <c:v>Consumer Discretionary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42.3</c:v>
                </c:pt>
                <c:pt idx="1">
                  <c:v>23.2</c:v>
                </c:pt>
                <c:pt idx="2">
                  <c:v>-10.3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1CFC2-18E8-420C-BAD1-E3325E7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C8E8F-2354-48B2-8641-BCD47DDA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STOCK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3D184-47A1-4529-9F64-7D16F34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D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7D7C8"/>
                </a:solidFill>
                <a:latin typeface="Helvetica Neue"/>
                <a:ea typeface="Helvetica Neue"/>
                <a:cs typeface="Helvetica Neue"/>
              </a:rPr>
              <a:t>A beginner-friendly financial-literacy website built from historical stock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DA939-A52D-4B0B-93C8-06CA46E5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6B369-F5DB-4A9B-BFCB-FEE5D96B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Yara Alsinan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PS1 Data Analytics Website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B1070-B4BB-4F2E-8FF2-21B572EC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048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site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yara-alsinan.github.io/PS1/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A1211-CF85-4F98-83B1-E610AEA6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D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7D7C8"/>
                </a:solidFill>
                <a:latin typeface="Helvetica Neue"/>
                <a:ea typeface="Helvetica Neue"/>
                <a:cs typeface="Helvetica Neue"/>
              </a:rPr>
              <a:t>Purpose: help beginners read market data, compare context, and choose what to learn next after a large price move.</a:t>
            </a:r>
          </a:p>
        </p:txBody>
      </p:sp>
    </p:spTree>
    <p:extLst>
      <p:ext uri="{BB962C8B-B14F-4D97-AF65-F5344CB8AC3E}">
        <p14:creationId xmlns:p14="http://schemas.microsoft.com/office/powerpoint/2010/main" val="883568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9AA53-EBF7-4BA7-AE9A-3F5245A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STOCK SENSE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B3C46-2D3F-4AD0-B741-BB41EA3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The problem and intended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AC3F0-0429-4473-9E11-7396E7E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A price change alone does not tell a beginner what to study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09026-EF50-44B1-9B0A-33F4B8E5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6722F-8F31-48C2-94A0-7D8F0961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PS1 Data Analytics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8D911-EAD9-4357-A1AE-55E96FAB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14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30052-E919-4EAA-BF19-D5C2C9E4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Intended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A533-7FA1-4023-A210-3245E4CC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04812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Student investment clubs</a:t>
            </a:r>
          </a:p>
          <a:p xmlns:a="http://schemas.openxmlformats.org/drawingml/2006/main">
            <a:pPr algn="l">
              <a:defRPr sz="17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Community financial-literacy groups</a:t>
            </a:r>
          </a:p>
          <a:p xmlns:a="http://schemas.openxmlformats.org/drawingml/2006/main">
            <a:pPr algn="l">
              <a:defRPr sz="17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Workshop leaders supporting beginners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32207-8B14-4A01-A079-6D74EB0C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336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791C5-DB1B-41A7-BB40-FD90D860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526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The decision this site supports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53C87-FB31-4E08-9FB9-11E5B1E1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479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After a large price move, what is the most useful next thing to learn?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12458-E4A3-4B31-853F-86C25459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10000"/>
            <a:ext cx="4800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The site points users toward a concrete learning step: understand the trigger, study the business change, practice diversification, or compare peers.</a:t>
            </a:r>
          </a:p>
        </p:txBody>
      </p:sp>
    </p:spTree>
    <p:extLst>
      <p:ext uri="{BB962C8B-B14F-4D97-AF65-F5344CB8AC3E}">
        <p14:creationId xmlns:p14="http://schemas.microsoft.com/office/powerpoint/2010/main" val="665155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57FDE-AED7-4CFE-B5D9-BC02FA67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STOCK SENSE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6DA37-D7D7-4344-8623-BF4F84BA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Dataset and calculations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F3A26-E686-43BD-B643-1C97EEB4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A cleaned educational sample derived from public daily S&amp;P 500 data on Kaggle.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70DE7-EE6E-4568-AE3C-7CCEACFC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6FC9B-0B59-4989-80C7-63ABCC3D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PS1 Data Analytics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7BAC0-70F1-4435-95BA-5729586F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14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56EA4-378A-4E85-BD8E-EE7F646D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BE3A2-D60A-4952-9376-CA434DE7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selected companies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9417F-1535-4DB0-96CE-4EF7068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76C9A-C8D4-40B9-88BC-A4D5AF40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S&amp;P 500 sectors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A8430-A8E1-4506-AAF5-74B7A3D2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47,322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45F54-75C1-4F4F-8FBF-44452257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daily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4A3F-9A0D-46DA-8691-691156BB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2021–2026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D7F89-3663-4DE4-98F4-072A9EB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coverage period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C2F40-1942-4906-9BDF-02CB5EA1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17C58-F51B-4851-A0B2-8EBDACC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Project data 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3F674-78E9-463C-8CE8-C056FC5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Public Kaggle daily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D65BC-E36D-494D-803F-82A2B70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33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Selected 33 companies and joined sector information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72658-D864-414C-AC5E-4B10F684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Calculated returns, drawdowns, volume ratios, Dip Watch flags, and 21-day historical outcomes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228C8-59A1-4FA8-9C96-C4CF917B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Source: Kaggle, S&amp;P 500 Stocks: 25 Years of Data, Updated Daily. Prices are USD closing prices; volume is shares traded; returns and drawdowns are percentages.</a:t>
            </a:r>
          </a:p>
        </p:txBody>
      </p:sp>
    </p:spTree>
    <p:extLst>
      <p:ext uri="{BB962C8B-B14F-4D97-AF65-F5344CB8AC3E}">
        <p14:creationId xmlns:p14="http://schemas.microsoft.com/office/powerpoint/2010/main" val="1695154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501ED-4BBB-4E10-8722-19498FA8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STOCK SENSE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0A4BD-182F-4195-BCFD-ADDD7323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Website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21CCE-FDF9-4A4D-A6EC-2BB61097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The site guides users from an observed move to a focused learning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36278-45FE-4A27-AA17-64932A66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64164-0428-45E4-90D0-574A165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PS1 Data Analytics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D2272-7EC3-4920-9911-C411CB6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14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F7848-4089-4AF8-97B1-87AEE08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56561-BC2D-437E-8CA5-29D50F60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Explore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67357-323C-4588-8CC5-70644C9B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1455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Choose a company and timeframe. Read the price line, daily change, one-year return, drawdown, and volume.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24612-81AB-4BDB-ABFB-AB574F75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003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26D6A-85A9-4BE5-AEF8-6EECC0AC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4419B-E45F-490D-BB02-7DD801A6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0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31ADC-0C6B-452F-AF17-C3D0DFC6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1942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Choose three companies. The chart indexes each one to 100 so different share prices can be compared fairly.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AD92-95D9-4B13-8C8C-71478C77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C26D4-C81B-4E00-92CD-35267F88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BB6D3-5603-4758-8370-FD2D0954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Check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EF9B2-ACB1-4348-B112-BD3E5465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243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Use sector returns, the return and drawdown map, and Dip Watch to see whether a move needs more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3B6B4-6C7E-4FED-8C8A-9F75BA6C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DC7C1-F1AB-4B75-BD1D-1B7B4A99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E1276-1F7A-45F0-838B-45D472E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0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Choose a learning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706CB-5C70-46FA-A20C-64DB4FD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2917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Answer three questions and receive a specific next activity, such as researching the cause or practicing a peer comparison.</a:t>
            </a:r>
          </a:p>
        </p:txBody>
      </p:sp>
    </p:spTree>
    <p:extLst>
      <p:ext uri="{BB962C8B-B14F-4D97-AF65-F5344CB8AC3E}">
        <p14:creationId xmlns:p14="http://schemas.microsoft.com/office/powerpoint/2010/main" val="155595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57127-E643-43B4-AE3B-81D475BF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STOCK SENSE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D4862-C904-4259-8150-581186A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Important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79318-2B6D-47F7-8525-E6E7A3C9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These results describe the selected 33-company sample as of September 18,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53611-EA78-4952-8D86-457645FF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14C6-0543-4416-9934-8FAD27E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PS1 Data Analytics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1EC5C-398B-4441-8C57-215DCF3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14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6191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e74eb661224ff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BB81B-AA5B-4BBD-AC16-BBF72ED3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Selected-sector average one-year return (%)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CFF2D-59B9-4754-AEE3-3AECEDC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6E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66E59"/>
                </a:solidFill>
                <a:latin typeface="Helvetica Neue"/>
                <a:ea typeface="Helvetica Neue"/>
                <a:cs typeface="Helvetica Neue"/>
              </a:rPr>
              <a:t>348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E78F2-C0C3-45DF-852B-20A8145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historical large-drop, high-volume observations flagged by Dip Watch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F7AA4-4841-4984-A8BE-C717C185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What this shows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C9CED-8C32-4B2F-BF49-318DDE3A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124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Selected sectors did not move together. A company’s sector gives useful context, but peers can still have very different results.</a:t>
            </a:r>
          </a:p>
        </p:txBody>
      </p:sp>
    </p:spTree>
    <p:extLst>
      <p:ext uri="{BB962C8B-B14F-4D97-AF65-F5344CB8AC3E}">
        <p14:creationId xmlns:p14="http://schemas.microsoft.com/office/powerpoint/2010/main" val="1551572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98603-E975-43F1-BDB9-609D7FB2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STOCK SENSE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F696A-6348-4F0F-82CA-AFC556FE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Historical Dip Watch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A0884-2863-44A1-BC6A-4047292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The site turns a price-drop chart into a clear next learning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B934C-F9F5-47E9-A03E-BF28621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46640-4592-477F-8B29-5427F6D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PS1 Data Analytics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C25FF-9EC1-48FA-BAE6-D8E82EB6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14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421B4-9B03-4C0B-B01D-825B05F1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Among 343 usable historical Dip Watch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97133-3E43-4C3F-A86C-0D31A488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21 trading days later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42518-687C-4B55-AFE1-38C6FAFB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7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56%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0720D-B6B1-43E2-93CF-B4F313F2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05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ended higher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5ECC1-C7E5-45C2-B5D5-20CECDB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00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199A4-6BF9-43CB-B14C-97B3BF6A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362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A3E15-C6C4-412C-B6B1-5F38754E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6E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D66E59"/>
                </a:solidFill>
                <a:latin typeface="Helvetica Neue"/>
                <a:ea typeface="Helvetica Neue"/>
                <a:cs typeface="Helvetica Neue"/>
              </a:rPr>
              <a:t>44%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0E7B3-821C-4CE9-B92D-8B0C2545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245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ended lower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3BFEE-16DF-467A-9149-FA5B1F12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600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BB250-CD4F-4DF8-9384-4FDC27E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638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E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C9DA4-9FDA-4B7B-AEB4-4BA3907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526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40DE8-9675-49BD-A8F4-5660087B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What the learning guide does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8AB08-0332-41BC-BC77-E96515E4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If the cause is unclear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5F23C-2C8A-4238-8B76-07D9805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Learn what caused the drop by reading an earnings release or credible news coverage.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7D312-DCA3-435B-BD7D-A6B1B52C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29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If the company would increase sector concentration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B8444-DB10-4205-A996-55A1CF67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Practice diversification by comparing a company from another sector.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137C6-ADEA-4763-8EFB-D0931EC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57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If context is clear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32E38-0893-4C67-8275-BC6B267E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816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Practice a peer comparison and record the company, its sector, and the reason for the move.</a:t>
            </a:r>
          </a:p>
        </p:txBody>
      </p:sp>
    </p:spTree>
    <p:extLst>
      <p:ext uri="{BB962C8B-B14F-4D97-AF65-F5344CB8AC3E}">
        <p14:creationId xmlns:p14="http://schemas.microsoft.com/office/powerpoint/2010/main" val="2136492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8E802-BF36-4A79-B35F-93D50D1E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STOCK SENSE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06E2F-B617-4F09-AD2E-8861D3C5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Recommendations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5CD11-D3DD-471A-9781-5D4F43E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The site supports better questions, not a prediction about the next stock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BF3D8-AFF2-47A9-A1BF-0991FE89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5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F6697-0770-4E3D-A735-F20C7C4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PS1 Data Analytics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028BE-47B3-489E-9DC4-9DACBAA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3143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F85E0-87BF-4378-BF66-4B6B0E20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E9B83"/>
                </a:solidFill>
                <a:latin typeface="Helvetica Neue"/>
                <a:ea typeface="Helvetica Neue"/>
                <a:cs typeface="Helvetica Neue"/>
              </a:rPr>
              <a:t>For a student investment club or 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B0A36-2805-4F0B-8D5D-093CA928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0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Use a comparison worksheet before discussing a stock. Record one-year return, drawdown from the 52-week high, and sector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8F7AE-5458-4D98-BEAF-3835FF9B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1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Make Dip Watch a research routine. Note the decline, volume ratio, related news, and earnings date before putting it on a practice watchlist.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84BCE-DD4F-497F-AEFD-B89FA6C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714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Build a practice watchlist across sectors so diversification becomes something learners can observe.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FB75D-FDA2-4981-A90F-BF2AC259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3E455-D334-46F6-95D2-8D3EA27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6E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66E59"/>
                </a:solidFill>
                <a:latin typeface="Helvetica Neue"/>
                <a:ea typeface="Helvetica Neue"/>
                <a:cs typeface="Helvetica Neue"/>
              </a:rPr>
              <a:t>What the data cannot 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FBAF7-9F80-4262-90DA-CBC546F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3857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A stock will recover after a dip</a:t>
            </a:r>
          </a:p>
          <a:p xmlns:a="http://schemas.openxmlformats.org/drawingml/2006/main">
            <a:pPr algn="l">
              <a:def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A Dip Watch flag means “buy”</a:t>
            </a:r>
          </a:p>
          <a:p xmlns:a="http://schemas.openxmlformats.org/drawingml/2006/main">
            <a:pPr algn="l">
              <a:def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Why every price change happened</a:t>
            </a:r>
          </a:p>
          <a:p xmlns:a="http://schemas.openxmlformats.org/drawingml/2006/main">
            <a:pPr algn="l">
              <a:def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520"/>
                </a:solidFill>
                <a:latin typeface="Helvetica Neue"/>
                <a:ea typeface="Helvetica Neue"/>
                <a:cs typeface="Helvetica Neue"/>
              </a:rPr>
              <a:t>What fits a person’s financial goals or risk tolerance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6B532-A27D-47DD-B54F-A7F46356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379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16B"/>
                </a:solidFill>
                <a:latin typeface="Helvetica Neue"/>
                <a:ea typeface="Helvetica Neue"/>
                <a:cs typeface="Helvetica Neue"/>
              </a:rPr>
              <a:t>Important limits: only 33 selected companies, three per sector, no dividends, taxes, fees, full news context, or personal financial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463246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2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40499-51D9-406D-BD37-B0C9E8D2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Stock 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86254-EE91-4063-A84A-5EBDB630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595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D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7D7C8"/>
                </a:solidFill>
                <a:latin typeface="Helvetica Neue"/>
                <a:ea typeface="Helvetica Neue"/>
                <a:cs typeface="Helvetica Neue"/>
              </a:rPr>
              <a:t>A practical way for beginners to explore historical stock data and choose what to learn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B43C7-9BEF-4899-BF2E-F58BB9F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69547-3D99-4E00-9610-9DC52A9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D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7D7C8"/>
                </a:solidFill>
                <a:latin typeface="Helvetica Neue"/>
                <a:ea typeface="Helvetica Neue"/>
                <a:cs typeface="Helvetica Neue"/>
              </a:rPr>
              <a:t>Live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1E1AF-377B-4674-8897-232BF72C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yara-alsinan.github.io/PS1/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C8DB1-7671-4B6A-857F-F241F395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D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7D7C8"/>
                </a:solidFill>
                <a:latin typeface="Helvetica Neue"/>
                <a:ea typeface="Helvetica Neue"/>
                <a:cs typeface="Helvetica Neue"/>
              </a:rPr>
              <a:t>Supporting 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11B84-F03C-4BC3-B6BA-E3AC96E7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CSV files, methodology note, and reflection are linked on the Method &amp; Reflection page.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FF3F-D347-40A7-9CA4-F9AB425C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97798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2026-09-22T16:34:58.8090000Z</dcterms:created>
  <dcterms:modified xsi:type="dcterms:W3CDTF">2026-09-22T16:34:58.8100000Z</dcterms:modified>
</coreProperties>
</file>